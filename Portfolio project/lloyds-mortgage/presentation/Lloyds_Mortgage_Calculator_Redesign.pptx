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4D38"/>
          </a:solidFill>
          <a:ln w="12700">
            <a:solidFill>
              <a:srgbClr val="004D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875A">
              <a:alpha val="40000"/>
            </a:srgbClr>
          </a:solidFill>
          <a:ln w="12700">
            <a:solidFill>
              <a:srgbClr val="00875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926080"/>
            <a:ext cx="1828800" cy="1828800"/>
          </a:xfrm>
          <a:prstGeom prst="ellipse">
            <a:avLst/>
          </a:prstGeom>
          <a:solidFill>
            <a:srgbClr val="004D38">
              <a:alpha val="50000"/>
            </a:srgbClr>
          </a:solidFill>
          <a:ln w="12700">
            <a:solidFill>
              <a:srgbClr val="004D3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84048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04D38"/>
          </a:solidFill>
          <a:ln w="12700">
            <a:solidFill>
              <a:srgbClr val="004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LLOYDS BANKING GROUP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Mortgage Calculator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6F6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Redesign Proposal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1097280" cy="50292"/>
          </a:xfrm>
          <a:prstGeom prst="rect">
            <a:avLst/>
          </a:prstGeom>
          <a:solidFill>
            <a:srgbClr val="00E09A"/>
          </a:solidFill>
          <a:ln w="12700">
            <a:solidFill>
              <a:srgbClr val="00E0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 Presentation  |  Technology Engineering Apprenticeship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John Kasonga   |   Submitted to: Samira, Senior Technology Engineering Manager   |   March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4D38"/>
          </a:solidFill>
          <a:ln w="12700">
            <a:solidFill>
              <a:srgbClr val="004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Lloyds Technology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customers told 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20240" cy="137160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Reviewed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051560"/>
            <a:ext cx="1920240" cy="137160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50592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Found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51560"/>
            <a:ext cx="192024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26864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1051560"/>
            <a:ext cx="192024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03136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4114800" cy="749808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33472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79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Technical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2871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page kept freezing when I tried to calculate my monthly payments."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4114800" cy="749808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56432"/>
            <a:ext cx="64008" cy="74980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 Design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6941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layout is cluttered — overwhelming to see so many options without guidance."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633472"/>
            <a:ext cx="4114800" cy="749808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633472"/>
            <a:ext cx="64008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679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Terminology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2871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terminology is confusing. I'm not sure what some of the terms mean."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456432"/>
            <a:ext cx="4114800" cy="749808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456432"/>
            <a:ext cx="64008" cy="749808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  Usability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6941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"I'd prefer a step-by-step guide to help new users navigate the process."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solidFill>
            <a:srgbClr val="F0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Banking Group — Technology Engineering  |  Mortgage Calculator Redesign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FEEDBACK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Categorised by theme and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694944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64008" cy="694944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Usability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inputs, hidden settings, no step-by-step guidance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#5  #9  #12  #14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0" y="1115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issues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01000" y="120700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207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178308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83080"/>
            <a:ext cx="64008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379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&amp; Content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093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jargon, no glossary, results too simplistic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#7  #11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18745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issues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01000" y="19659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A6E37"/>
          </a:solidFill>
          <a:ln w="12700">
            <a:solidFill>
              <a:srgbClr val="1A6E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1965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542032"/>
            <a:ext cx="8595360" cy="694944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542032"/>
            <a:ext cx="6400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968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28529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Freezing, crashes, broken mobile, inputs lost on refresh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706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#6  #10  #13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0" y="2633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issues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01000" y="272491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2724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30098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00984"/>
            <a:ext cx="64008" cy="694944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3558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Clarity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unexplained, chart confusing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0" y="34655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#15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33924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issues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01000" y="348386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34838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059936"/>
            <a:ext cx="8595360" cy="694944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059936"/>
            <a:ext cx="64008" cy="694944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114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Layout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43708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Cluttered, overwhelming, no visual hierarchy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064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23760" y="4151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issue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01000" y="424281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1000" y="4242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solidFill>
            <a:srgbClr val="F0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Banking Group — Technology Engineering  |  Mortgage Calculator Redesign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 APPLIED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translated feedback into design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17043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60520" cy="64008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207008"/>
            <a:ext cx="347472" cy="347472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152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&amp; Clarity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161848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step. Plain English throughout. No jargon without explanation.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50008"/>
            <a:ext cx="4160520" cy="117043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50008"/>
            <a:ext cx="416052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532888"/>
            <a:ext cx="347472" cy="3474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478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29443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button styles, colours, and spacing across all 3 steps of the flow.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675888"/>
            <a:ext cx="4160520" cy="117043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75888"/>
            <a:ext cx="4160520" cy="6400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858768"/>
            <a:ext cx="347472" cy="347472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42702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monthly payment preview updates in real time as sliders are adjusted.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024128"/>
            <a:ext cx="4160520" cy="117043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24128"/>
            <a:ext cx="4160520" cy="64008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1207008"/>
            <a:ext cx="347472" cy="347472"/>
          </a:xfrm>
          <a:prstGeom prst="ellipse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1152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73752" y="161848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button on every step. Session storage preserves inputs across refresh.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350008"/>
            <a:ext cx="4160520" cy="117043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350008"/>
            <a:ext cx="4160520" cy="6400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3752" y="2532888"/>
            <a:ext cx="347472" cy="347472"/>
          </a:xfrm>
          <a:prstGeom prst="ellipse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2478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73752" y="29443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contrast, readable fonts, touch-friendly sliders, fully mobile responsive.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75888"/>
            <a:ext cx="4160520" cy="117043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75888"/>
            <a:ext cx="416052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858768"/>
            <a:ext cx="347472" cy="3474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73752" y="42702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payment result given maximum prominence. Details revealed progressively.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solidFill>
            <a:srgbClr val="F0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Banking Group — Technology Engineering  |  Mortgage Calculator Redesign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REDESIGN: 3-STEP GUIDED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issues #1 #5 #9 #12 #14 — Navigation &amp; Usability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697480" cy="3657600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2697480" cy="73152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115568"/>
            <a:ext cx="594360" cy="594360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847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0482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Details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423160"/>
            <a:ext cx="1051560" cy="4572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420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9992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property 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564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deposit input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9136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LTV calculation badge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1024128"/>
            <a:ext cx="2697480" cy="3657600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024128"/>
            <a:ext cx="2697480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1115568"/>
            <a:ext cx="594360" cy="59436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172968" y="1847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72968" y="20482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&amp; Term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95928" y="2423160"/>
            <a:ext cx="105156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5420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rate slider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9992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term slider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4564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type toggle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39136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monthly payment preview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1024128"/>
            <a:ext cx="2697480" cy="3657600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1024128"/>
            <a:ext cx="2697480" cy="7315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23176" y="1115568"/>
            <a:ext cx="594360" cy="59436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23176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47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71616" y="20482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Results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94576" y="2423160"/>
            <a:ext cx="105156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25420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payment hero card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08776" y="29992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 breakdown grid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08776" y="34564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vs interest donut chart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08776" y="3913632"/>
            <a:ext cx="2423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disclaimer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71800" y="2852928"/>
            <a:ext cx="20116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870448" y="2852928"/>
            <a:ext cx="20116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solidFill>
            <a:srgbClr val="F0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Banking Group — Technology Engineering  |  Mortgage Calculator Redesign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 AFTER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improvements at a glance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(Original)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(Redesign)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384048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guided flow — single cluttered page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1536192"/>
            <a:ext cx="3840480" cy="384048"/>
          </a:xfrm>
          <a:prstGeom prst="rect">
            <a:avLst/>
          </a:prstGeom>
          <a:solidFill>
            <a:srgbClr val="F0FDF8"/>
          </a:solidFill>
          <a:ln w="12700">
            <a:solidFill>
              <a:srgbClr val="C6F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guided flow with progress bar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56816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56816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tooltips or field explanations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0" y="1956816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F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956816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tooltips on every input field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384048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jargon throughout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3840480" cy="384048"/>
          </a:xfrm>
          <a:prstGeom prst="rect">
            <a:avLst/>
          </a:prstGeom>
          <a:solidFill>
            <a:srgbClr val="F0FDF8"/>
          </a:solidFill>
          <a:ln w="12700">
            <a:solidFill>
              <a:srgbClr val="C6F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labels with mortgage glossary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98064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crashes and freezes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2798064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F6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798064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inputs with clear error messages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384048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18688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on mobile devices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0" y="3218688"/>
            <a:ext cx="3840480" cy="384048"/>
          </a:xfrm>
          <a:prstGeom prst="rect">
            <a:avLst/>
          </a:prstGeom>
          <a:solidFill>
            <a:srgbClr val="F0FDF8"/>
          </a:solidFill>
          <a:ln w="12700">
            <a:solidFill>
              <a:srgbClr val="C6F6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218688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responsive, mobile-first design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39312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3931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page shows basic total only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3639312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F6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63931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breakdown: donut chart, LTV, total interest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059936"/>
            <a:ext cx="384048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59936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lost on page refresh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0" y="4059936"/>
            <a:ext cx="3840480" cy="384048"/>
          </a:xfrm>
          <a:prstGeom prst="rect">
            <a:avLst/>
          </a:prstGeom>
          <a:solidFill>
            <a:srgbClr val="F0FDF8"/>
          </a:solidFill>
          <a:ln w="12700">
            <a:solidFill>
              <a:srgbClr val="C6F6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4059936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preserves all inputs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480560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48056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interest rate settings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4480560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F6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48056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interactive sliders on Step 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solidFill>
            <a:srgbClr val="F0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Banking Group — Technology Engineering  |  Mortgage Calculator Redesign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GROUP: WE WANT YOUR FEEDBACK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share your honest impressions — every comment helps us improve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07899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078992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Usability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3-step flow easy to follow? Did you ever feel lost or confused?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13432"/>
            <a:ext cx="4160520" cy="107899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13432"/>
            <a:ext cx="64008" cy="10789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404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Clarity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6791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understand all the input fields without extra help?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575304"/>
            <a:ext cx="4160520" cy="107899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575304"/>
            <a:ext cx="64008" cy="107899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Terminology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9410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 tooltips and plain-English explanations helpful and sufficient?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4160520" cy="107899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51560"/>
            <a:ext cx="64008" cy="10789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results page give you enough information to make a decision?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313432"/>
            <a:ext cx="4160520" cy="107899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313432"/>
            <a:ext cx="64008" cy="107899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404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Mobile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26791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tried on a mobile device, how did the experience feel?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575304"/>
            <a:ext cx="4160520" cy="1078992"/>
          </a:xfrm>
          <a:prstGeom prst="rect">
            <a:avLst/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75304"/>
            <a:ext cx="64008" cy="10789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Overall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39410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scale of 1–10, how user-friendly is this redesign compared to what you've seen before?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solidFill>
            <a:srgbClr val="F0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Banking Group — Technology Engineering  |  Mortgage Calculator Redesign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6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4D38"/>
          </a:solidFill>
          <a:ln w="12700">
            <a:solidFill>
              <a:srgbClr val="004D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875A">
              <a:alpha val="40000"/>
            </a:srgbClr>
          </a:solidFill>
          <a:ln w="12700">
            <a:solidFill>
              <a:srgbClr val="00875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926080"/>
            <a:ext cx="1828800" cy="1828800"/>
          </a:xfrm>
          <a:prstGeom prst="ellipse">
            <a:avLst/>
          </a:prstGeom>
          <a:solidFill>
            <a:srgbClr val="004D38">
              <a:alpha val="50000"/>
            </a:srgbClr>
          </a:solidFill>
          <a:ln w="12700">
            <a:solidFill>
              <a:srgbClr val="004D3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1280160" cy="50292"/>
          </a:xfrm>
          <a:prstGeom prst="rect">
            <a:avLst/>
          </a:prstGeom>
          <a:solidFill>
            <a:srgbClr val="00E09A"/>
          </a:solidFill>
          <a:ln w="12700">
            <a:solidFill>
              <a:srgbClr val="00E0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 will directly shape the final product.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github.com/JKASONGA1/lloyds-mortgage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John Kasonga  |  Technology Engineering Apprentice  |  Lloyds Banking Group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4D38"/>
          </a:solidFill>
          <a:ln w="12700">
            <a:solidFill>
              <a:srgbClr val="004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Lloyds Technology Engineering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Lloyds Mortgage Calculator Redesign</dc:title>
  <dc:subject>PptxGenJS Presentation</dc:subject>
  <dc:creator>John Kasonga</dc:creator>
  <cp:lastModifiedBy>John Kasonga</cp:lastModifiedBy>
  <cp:revision>1</cp:revision>
  <dcterms:created xsi:type="dcterms:W3CDTF">2026-03-30T01:10:24Z</dcterms:created>
  <dcterms:modified xsi:type="dcterms:W3CDTF">2026-03-30T01:10:24Z</dcterms:modified>
</cp:coreProperties>
</file>